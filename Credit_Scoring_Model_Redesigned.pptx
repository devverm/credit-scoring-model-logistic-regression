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Upto 2,500</c:v>
                </c:pt>
              </c:strCache>
            </c:strRef>
          </c:tx>
          <c:spPr>
            <a:solidFill>
              <a:srgbClr val="D8E4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Centre</c:v>
                  </c:pt>
                  <c:pt idx="1">
                    <c:v>East</c:v>
                  </c:pt>
                  <c:pt idx="2">
                    <c:v>North</c:v>
                  </c:pt>
                  <c:pt idx="3">
                    <c:v>South</c:v>
                  </c:pt>
                  <c:pt idx="4">
                    <c:v>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91</c:v>
                </c:pt>
                <c:pt idx="2">
                  <c:v>374</c:v>
                </c:pt>
                <c:pt idx="3">
                  <c:v>224</c:v>
                </c:pt>
                <c:pt idx="4">
                  <c:v>720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2,500-5,000</c:v>
                </c:pt>
              </c:strCache>
            </c:strRef>
          </c:tx>
          <c:spPr>
            <a:solidFill>
              <a:srgbClr val="6E8C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Centre</c:v>
                  </c:pt>
                  <c:pt idx="1">
                    <c:v>East</c:v>
                  </c:pt>
                  <c:pt idx="2">
                    <c:v>North</c:v>
                  </c:pt>
                  <c:pt idx="3">
                    <c:v>South</c:v>
                  </c:pt>
                  <c:pt idx="4">
                    <c:v>West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77</c:v>
                </c:pt>
                <c:pt idx="1">
                  <c:v>227</c:v>
                </c:pt>
                <c:pt idx="2">
                  <c:v>886</c:v>
                </c:pt>
                <c:pt idx="3">
                  <c:v>530</c:v>
                </c:pt>
                <c:pt idx="4">
                  <c:v>1699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5,000-7,500</c:v>
                </c:pt>
              </c:strCache>
            </c:strRef>
          </c:tx>
          <c:spPr>
            <a:solidFill>
              <a:srgbClr val="1B2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Centre</c:v>
                  </c:pt>
                  <c:pt idx="1">
                    <c:v>East</c:v>
                  </c:pt>
                  <c:pt idx="2">
                    <c:v>North</c:v>
                  </c:pt>
                  <c:pt idx="3">
                    <c:v>South</c:v>
                  </c:pt>
                  <c:pt idx="4">
                    <c:v>West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83</c:v>
                </c:pt>
                <c:pt idx="1">
                  <c:v>209</c:v>
                </c:pt>
                <c:pt idx="2">
                  <c:v>774</c:v>
                </c:pt>
                <c:pt idx="3">
                  <c:v>442</c:v>
                </c:pt>
                <c:pt idx="4">
                  <c:v>1336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8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2,500-5,000 income</c:v>
                </c:pt>
              </c:strCache>
            </c:strRef>
          </c:tx>
          <c:spPr>
            <a:solidFill>
              <a:srgbClr val="D8E4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30-40</c:v>
                  </c:pt>
                  <c:pt idx="1">
                    <c:v>40-50</c:v>
                  </c:pt>
                  <c:pt idx="2">
                    <c:v>50-60</c:v>
                  </c:pt>
                  <c:pt idx="3">
                    <c:v>60-70</c:v>
                  </c:pt>
                  <c:pt idx="4">
                    <c:v>70-80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915</c:v>
                </c:pt>
                <c:pt idx="1">
                  <c:v>849</c:v>
                </c:pt>
                <c:pt idx="2">
                  <c:v>656</c:v>
                </c:pt>
                <c:pt idx="3">
                  <c:v>310</c:v>
                </c:pt>
                <c:pt idx="4">
                  <c:v>101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5,000-7,500 income</c:v>
                </c:pt>
              </c:strCache>
            </c:strRef>
          </c:tx>
          <c:spPr>
            <a:solidFill>
              <a:srgbClr val="1B2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30-40</c:v>
                  </c:pt>
                  <c:pt idx="1">
                    <c:v>40-50</c:v>
                  </c:pt>
                  <c:pt idx="2">
                    <c:v>50-60</c:v>
                  </c:pt>
                  <c:pt idx="3">
                    <c:v>60-70</c:v>
                  </c:pt>
                  <c:pt idx="4">
                    <c:v>70-80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793</c:v>
                </c:pt>
                <c:pt idx="1">
                  <c:v>1036</c:v>
                </c:pt>
                <c:pt idx="2">
                  <c:v>515</c:v>
                </c:pt>
                <c:pt idx="3">
                  <c:v>270</c:v>
                </c:pt>
                <c:pt idx="4">
                  <c:v>122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8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</c:v>
                </c:pt>
              </c:strCache>
            </c:strRef>
          </c:tx>
          <c:spPr>
            <a:solidFill>
              <a:srgbClr val="1B2A56"/>
            </a:solidFill>
            <a:ln w="38100" cap="flat">
              <a:solidFill>
                <a:srgbClr val="1B2A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2A56"/>
              </a:solidFill>
              <a:ln w="9525" cap="flat">
                <a:solidFill>
                  <a:srgbClr val="1B2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0.02</c:v>
                  </c:pt>
                  <c:pt idx="2">
                    <c:v>0.05</c:v>
                  </c:pt>
                  <c:pt idx="3">
                    <c:v>0.08</c:v>
                  </c:pt>
                  <c:pt idx="4">
                    <c:v>0.12</c:v>
                  </c:pt>
                  <c:pt idx="5">
                    <c:v>0.18</c:v>
                  </c:pt>
                  <c:pt idx="6">
                    <c:v>0.25</c:v>
                  </c:pt>
                  <c:pt idx="7">
                    <c:v>0.35</c:v>
                  </c:pt>
                  <c:pt idx="8">
                    <c:v>0.45</c:v>
                  </c:pt>
                  <c:pt idx="9">
                    <c:v>0.6</c:v>
                  </c:pt>
                  <c:pt idx="10">
                    <c:v>0.75</c:v>
                  </c:pt>
                  <c:pt idx="11">
                    <c:v>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0.28</c:v>
                </c:pt>
                <c:pt idx="2">
                  <c:v>0.52</c:v>
                </c:pt>
                <c:pt idx="3">
                  <c:v>0.66</c:v>
                </c:pt>
                <c:pt idx="4">
                  <c:v>0.76</c:v>
                </c:pt>
                <c:pt idx="5">
                  <c:v>0.85</c:v>
                </c:pt>
                <c:pt idx="6">
                  <c:v>0.9</c:v>
                </c:pt>
                <c:pt idx="7">
                  <c:v>0.94</c:v>
                </c:pt>
                <c:pt idx="8">
                  <c:v>0.965</c:v>
                </c:pt>
                <c:pt idx="9">
                  <c:v>0.985</c:v>
                </c:pt>
                <c:pt idx="10">
                  <c:v>0.995</c:v>
                </c:pt>
                <c:pt idx="11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chance</c:v>
                </c:pt>
              </c:strCache>
            </c:strRef>
          </c:tx>
          <c:spPr>
            <a:solidFill>
              <a:srgbClr val="B7C3D6"/>
            </a:solidFill>
            <a:ln w="38100" cap="flat">
              <a:solidFill>
                <a:srgbClr val="B7C3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7C3D6"/>
              </a:solidFill>
              <a:ln w="9525" cap="flat">
                <a:solidFill>
                  <a:srgbClr val="B7C3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0.02</c:v>
                  </c:pt>
                  <c:pt idx="2">
                    <c:v>0.05</c:v>
                  </c:pt>
                  <c:pt idx="3">
                    <c:v>0.08</c:v>
                  </c:pt>
                  <c:pt idx="4">
                    <c:v>0.12</c:v>
                  </c:pt>
                  <c:pt idx="5">
                    <c:v>0.18</c:v>
                  </c:pt>
                  <c:pt idx="6">
                    <c:v>0.25</c:v>
                  </c:pt>
                  <c:pt idx="7">
                    <c:v>0.35</c:v>
                  </c:pt>
                  <c:pt idx="8">
                    <c:v>0.45</c:v>
                  </c:pt>
                  <c:pt idx="9">
                    <c:v>0.6</c:v>
                  </c:pt>
                  <c:pt idx="10">
                    <c:v>0.75</c:v>
                  </c:pt>
                  <c:pt idx="11">
                    <c:v>1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0.08</c:v>
                </c:pt>
                <c:pt idx="4">
                  <c:v>0.12</c:v>
                </c:pt>
                <c:pt idx="5">
                  <c:v>0.18</c:v>
                </c:pt>
                <c:pt idx="6">
                  <c:v>0.25</c:v>
                </c:pt>
                <c:pt idx="7">
                  <c:v>0.35</c:v>
                </c:pt>
                <c:pt idx="8">
                  <c:v>0.45</c:v>
                </c:pt>
                <c:pt idx="9">
                  <c:v>0.6</c:v>
                </c:pt>
                <c:pt idx="10">
                  <c:v>0.75</c:v>
                </c:pt>
                <c:pt idx="11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1 - Specificity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A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Sensitivity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8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 model</c:v>
                </c:pt>
              </c:strCache>
            </c:strRef>
          </c:tx>
          <c:spPr>
            <a:solidFill>
              <a:srgbClr val="D97742"/>
            </a:solidFill>
            <a:ln w="38100" cap="flat">
              <a:solidFill>
                <a:srgbClr val="D977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97742"/>
              </a:solidFill>
              <a:ln w="9525" cap="flat">
                <a:solidFill>
                  <a:srgbClr val="D977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60</c:v>
                </c:pt>
                <c:pt idx="1">
                  <c:v>78</c:v>
                </c:pt>
                <c:pt idx="2">
                  <c:v>87</c:v>
                </c:pt>
                <c:pt idx="3">
                  <c:v>91</c:v>
                </c:pt>
                <c:pt idx="4">
                  <c:v>94</c:v>
                </c:pt>
                <c:pt idx="5">
                  <c:v>96</c:v>
                </c:pt>
                <c:pt idx="6">
                  <c:v>97.5</c:v>
                </c:pt>
                <c:pt idx="7">
                  <c:v>98.5</c:v>
                </c:pt>
                <c:pt idx="8">
                  <c:v>99.3</c:v>
                </c:pt>
                <c:pt idx="9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By random chance</c:v>
                </c:pt>
              </c:strCache>
            </c:strRef>
          </c:tx>
          <c:spPr>
            <a:solidFill>
              <a:srgbClr val="8FA2C2"/>
            </a:solidFill>
            <a:ln w="38100" cap="flat">
              <a:solidFill>
                <a:srgbClr val="8FA2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FA2C2"/>
              </a:solidFill>
              <a:ln w="9525" cap="flat">
                <a:solidFill>
                  <a:srgbClr val="8FA2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Decile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A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Cumulative % of defaults captured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8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B2A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2743200" cy="2743200"/>
          </a:xfrm>
          <a:prstGeom prst="ellipse">
            <a:avLst/>
          </a:prstGeom>
          <a:solidFill>
            <a:srgbClr val="C0392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Scoring Model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 Regression approach to identifying good customers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0" cy="0"/>
          </a:xfrm>
          <a:prstGeom prst="line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548640" y="4663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150,000  </a:t>
            </a:r>
            <a:pPr indent="0" marL="0">
              <a:buNone/>
            </a:pPr>
            <a:r>
              <a:rPr lang="en-US" sz="1300" dirty="0">
                <a:solidFill>
                  <a:srgbClr val="D8E4F5"/>
                </a:solidFill>
              </a:rPr>
              <a:t>customer records analyzed   |   </a:t>
            </a:r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6.68%  </a:t>
            </a:r>
            <a:pPr indent="0" marL="0">
              <a:buNone/>
            </a:pPr>
            <a:r>
              <a:rPr lang="en-US" sz="1300" dirty="0">
                <a:solidFill>
                  <a:srgbClr val="D8E4F5"/>
                </a:solidFill>
              </a:rPr>
              <a:t>historical default rate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6217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  |  SAS PROC LOGISTIC  |  github.com/Vicky-Crasto/Credit-Scoring-Model-SAS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holds demographic and credit-bureau data on 150,000 customers. The goal: build a model that separates good customers from those likely to default, so lending decisions can be made with confidence.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profile (age, region, education, occupation)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 history (utilization, credit lines)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behavior (30-60, 60-90, 90+ days past due)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 &amp; housing status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23760" y="1234440"/>
            <a:ext cx="4389120" cy="4389120"/>
          </a:xfrm>
          <a:prstGeom prst="roundRect">
            <a:avLst>
              <a:gd name="adj" fmla="val 2500"/>
            </a:avLst>
          </a:prstGeom>
          <a:solidFill>
            <a:srgbClr val="1B2A5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0" y="2286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150,000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22376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observations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63840" y="3520440"/>
            <a:ext cx="3108960" cy="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7033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4251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6.68%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722376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have defaulted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Separates Defaulters From the Rest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findings across 150,000 records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478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7612" y="1691640"/>
            <a:ext cx="640080" cy="640080"/>
          </a:xfrm>
          <a:prstGeom prst="ellipse">
            <a:avLst/>
          </a:prstGeom>
          <a:solidFill>
            <a:srgbClr val="D8E4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18379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231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770632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of defaulters fall in the 30-60 age bracket.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27832" y="1508760"/>
            <a:ext cx="2478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46804" y="1691640"/>
            <a:ext cx="640080" cy="640080"/>
          </a:xfrm>
          <a:prstGeom prst="ellipse">
            <a:avLst/>
          </a:prstGeom>
          <a:solidFill>
            <a:srgbClr val="D8E4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108" y="18379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19272" y="24231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Lines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64992" y="2770632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defaulters hold at least 1 active credit line.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07024" y="1508760"/>
            <a:ext cx="2478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25996" y="1691640"/>
            <a:ext cx="640080" cy="640080"/>
          </a:xfrm>
          <a:prstGeom prst="ellipse">
            <a:avLst/>
          </a:prstGeom>
          <a:solidFill>
            <a:srgbClr val="D8E4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8379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98464" y="24231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Utilization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044184" y="2770632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defaulters have maxed out their entire credit limit.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586216" y="1508760"/>
            <a:ext cx="2478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05188" y="1691640"/>
            <a:ext cx="640080" cy="640080"/>
          </a:xfrm>
          <a:prstGeom prst="ellipse">
            <a:avLst/>
          </a:prstGeom>
          <a:solidFill>
            <a:srgbClr val="D8E4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492" y="18379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77656" y="24231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723376" y="2770632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Defaulters carry a noticeably higher debt-to-income ratio.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041648"/>
            <a:ext cx="2478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467612" y="4224528"/>
            <a:ext cx="640080" cy="640080"/>
          </a:xfrm>
          <a:prstGeom prst="ellipse">
            <a:avLst/>
          </a:prstGeom>
          <a:solidFill>
            <a:srgbClr val="D8E4F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916" y="437083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95604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85800" y="53035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concentrate in the West (48%) and North (23%).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27832" y="4041648"/>
            <a:ext cx="2478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146804" y="4224528"/>
            <a:ext cx="640080" cy="640080"/>
          </a:xfrm>
          <a:prstGeom prst="ellipse">
            <a:avLst/>
          </a:prstGeom>
          <a:solidFill>
            <a:srgbClr val="D8E4F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3108" y="437083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319272" y="495604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60-90 Days Past Due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364992" y="53035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missed a payment once for 60-90 days in 2 years.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907024" y="4041648"/>
            <a:ext cx="2478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825996" y="4224528"/>
            <a:ext cx="640080" cy="640080"/>
          </a:xfrm>
          <a:prstGeom prst="ellipse">
            <a:avLst/>
          </a:prstGeom>
          <a:solidFill>
            <a:srgbClr val="D8E4F5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0" y="4370832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998464" y="495604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 Past Due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044184" y="53035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missed a payment for 90+ days at least once.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586216" y="4041648"/>
            <a:ext cx="2478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505188" y="4224528"/>
            <a:ext cx="640080" cy="640080"/>
          </a:xfrm>
          <a:prstGeom prst="ellipse">
            <a:avLst/>
          </a:prstGeom>
          <a:solidFill>
            <a:srgbClr val="D8E4F5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1492" y="4370832"/>
            <a:ext cx="347472" cy="34747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677656" y="495604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8723376" y="53035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of defaulters earn under 10,000; income 2,500-5,000 sees 34% default.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Defaults Concentrate: Region x Income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defaulted (NPA = 1) customers by region and income band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DED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75320" y="1527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is the outlier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75320" y="185623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is high across every income band in the West - loan approval procedures there merit review.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092440" y="2898648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E4F1E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75320" y="3008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performs best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75320" y="33375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rates stay relatively low in the Centre region - a pattern worth understanding and replicating.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092440" y="4379976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75320" y="44897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needs a closer look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75320" y="481888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defaults concentrate in the 2,500-7,500 income bands in the North.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Defaults Concentrate: Age x Income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defaulted (NPA = 1) customers by age group and income band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6DED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7532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Working-age risk pocket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75320" y="19202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in the 30-50 age range with income 2,500-7,500 run higher than any other segment.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92440" y="35661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D8E4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7532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post-retirement borrowers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75320" y="40690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aged 60+ show meaningful default counts - repayment ability tends to decline after retirement, so this segment merits monitoring.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Logistic Regression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236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0594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53619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536192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/>
        </p:spPr>
      </p:sp>
      <p:sp>
        <p:nvSpPr>
          <p:cNvPr id="9" name="Shape 6"/>
          <p:cNvSpPr/>
          <p:nvPr/>
        </p:nvSpPr>
        <p:spPr>
          <a:xfrm>
            <a:off x="3429000" y="17236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0594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13632" y="153619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Rented / Owned house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450592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" y="26380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72034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245059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group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291840" y="2450592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/>
        </p:spPr>
      </p:sp>
      <p:sp>
        <p:nvSpPr>
          <p:cNvPr id="17" name="Shape 12"/>
          <p:cNvSpPr/>
          <p:nvPr/>
        </p:nvSpPr>
        <p:spPr>
          <a:xfrm>
            <a:off x="3429000" y="26380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272034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13632" y="245059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364992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/>
        </p:spPr>
      </p:sp>
      <p:sp>
        <p:nvSpPr>
          <p:cNvPr id="21" name="Shape 15"/>
          <p:cNvSpPr/>
          <p:nvPr/>
        </p:nvSpPr>
        <p:spPr>
          <a:xfrm>
            <a:off x="685800" y="35524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6347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70432" y="336499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3291840" y="3364992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/>
        </p:spPr>
      </p:sp>
      <p:sp>
        <p:nvSpPr>
          <p:cNvPr id="25" name="Shape 18"/>
          <p:cNvSpPr/>
          <p:nvPr/>
        </p:nvSpPr>
        <p:spPr>
          <a:xfrm>
            <a:off x="3429000" y="35524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363474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913632" y="336499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48640" y="4279392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/>
        </p:spPr>
      </p:sp>
      <p:sp>
        <p:nvSpPr>
          <p:cNvPr id="29" name="Shape 21"/>
          <p:cNvSpPr/>
          <p:nvPr/>
        </p:nvSpPr>
        <p:spPr>
          <a:xfrm>
            <a:off x="685800" y="44668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4549140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70432" y="427939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utilization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3291840" y="4279392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/>
        </p:spPr>
      </p:sp>
      <p:sp>
        <p:nvSpPr>
          <p:cNvPr id="33" name="Shape 24"/>
          <p:cNvSpPr/>
          <p:nvPr/>
        </p:nvSpPr>
        <p:spPr>
          <a:xfrm>
            <a:off x="3429000" y="44668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1296" y="4549140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913632" y="427939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Past-due behavior (30/60/90d)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6766560" y="1143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Effects on the Odds of Default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6766560" y="1536192"/>
            <a:ext cx="48463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Text 28"/>
          <p:cNvSpPr/>
          <p:nvPr/>
        </p:nvSpPr>
        <p:spPr>
          <a:xfrm>
            <a:off x="6903720" y="153619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+424%</a:t>
            </a:r>
            <a:endParaRPr lang="en-US" sz="2200" dirty="0"/>
          </a:p>
        </p:txBody>
      </p:sp>
      <p:sp>
        <p:nvSpPr>
          <p:cNvPr id="39" name="Text 29"/>
          <p:cNvSpPr/>
          <p:nvPr/>
        </p:nvSpPr>
        <p:spPr>
          <a:xfrm>
            <a:off x="8138160" y="153619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of default per 1-unit rise in credit utilization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6766560" y="2377440"/>
            <a:ext cx="48463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Text 31"/>
          <p:cNvSpPr/>
          <p:nvPr/>
        </p:nvSpPr>
        <p:spPr>
          <a:xfrm>
            <a:off x="6903720" y="237744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+90%</a:t>
            </a:r>
            <a:endParaRPr lang="en-US" sz="2200" dirty="0"/>
          </a:p>
        </p:txBody>
      </p:sp>
      <p:sp>
        <p:nvSpPr>
          <p:cNvPr id="42" name="Text 32"/>
          <p:cNvSpPr/>
          <p:nvPr/>
        </p:nvSpPr>
        <p:spPr>
          <a:xfrm>
            <a:off x="8138160" y="237744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of default when a customer is 90+ days past due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6766560" y="3218688"/>
            <a:ext cx="48463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4" name="Text 34"/>
          <p:cNvSpPr/>
          <p:nvPr/>
        </p:nvSpPr>
        <p:spPr>
          <a:xfrm>
            <a:off x="6903720" y="321868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+70%</a:t>
            </a:r>
            <a:endParaRPr lang="en-US" sz="2200" dirty="0"/>
          </a:p>
        </p:txBody>
      </p:sp>
      <p:sp>
        <p:nvSpPr>
          <p:cNvPr id="45" name="Text 35"/>
          <p:cNvSpPr/>
          <p:nvPr/>
        </p:nvSpPr>
        <p:spPr>
          <a:xfrm>
            <a:off x="8138160" y="321868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of default per 1-unit rise in debt-to-income ratio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6766560" y="4059936"/>
            <a:ext cx="48463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Text 37"/>
          <p:cNvSpPr/>
          <p:nvPr/>
        </p:nvSpPr>
        <p:spPr>
          <a:xfrm>
            <a:off x="6903720" y="405993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-6%</a:t>
            </a:r>
            <a:endParaRPr lang="en-US" sz="2200" dirty="0"/>
          </a:p>
        </p:txBody>
      </p:sp>
      <p:sp>
        <p:nvSpPr>
          <p:cNvPr id="48" name="Text 38"/>
          <p:cNvSpPr/>
          <p:nvPr/>
        </p:nvSpPr>
        <p:spPr>
          <a:xfrm>
            <a:off x="8138160" y="4059936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of default for each step up in income group</a:t>
            </a:r>
            <a:endParaRPr 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6766560" y="4901184"/>
            <a:ext cx="48463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0" name="Text 40"/>
          <p:cNvSpPr/>
          <p:nvPr/>
        </p:nvSpPr>
        <p:spPr>
          <a:xfrm>
            <a:off x="6903720" y="490118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+307%</a:t>
            </a:r>
            <a:endParaRPr lang="en-US" sz="2200" dirty="0"/>
          </a:p>
        </p:txBody>
      </p:sp>
      <p:sp>
        <p:nvSpPr>
          <p:cNvPr id="51" name="Text 41"/>
          <p:cNvSpPr/>
          <p:nvPr/>
        </p:nvSpPr>
        <p:spPr>
          <a:xfrm>
            <a:off x="8138160" y="490118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of default for customers with only a matric education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Fit &amp; Significance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1B2A5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984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104,924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observations (2,159 defaults)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1B2A5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0" y="12984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89.2%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97680" y="1783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concordant - predicted probabilities align with actual outcomes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0" y="118872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1B2A5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0" y="12984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863840" y="1783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 model variables are statistically significant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1206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10896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3127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&amp; Fit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36576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converged cleanly (GCONV = 1e-08). Fit statistics (AIC, SC, -2 Log L) were lower for the full model than the intercept-only baseline, confirming the covariates add real explanatory power. The Likelihood Ratio, Score, and Wald tests all reject the null hypothesis that the variables have no effect (p &lt; 0.0001).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92240" y="2880360"/>
            <a:ext cx="51206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089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15200" y="3127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Stay Cautious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766560" y="36576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Hosmer-Lemeshow goodness-of-fit test came back significant (Chi-Sq = 74.6, p &lt; 0.0001), which points to some mismatch between predicted and observed probabilities across risk groups. Coefficient significance and concordance are strong, but this diagnostic is worth revisiting before deployment.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Discriminatory Power: ROC Curve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183880" y="1234440"/>
            <a:ext cx="3474720" cy="4480560"/>
          </a:xfrm>
          <a:prstGeom prst="roundRect">
            <a:avLst>
              <a:gd name="adj" fmla="val 236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36676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366760" y="18288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is the share of true defaulters the model correctly flags. Specificity is the share of true non-defaulters correctly cleared.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66760" y="29260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model bows sharply toward the top-left corner. This curve does exactly that - the model separates good and bad customers far better than chance.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366760" y="4251960"/>
            <a:ext cx="3063240" cy="0"/>
          </a:xfrm>
          <a:prstGeom prst="line">
            <a:avLst/>
          </a:prstGeom>
          <a:noFill/>
          <a:ln w="12700">
            <a:solidFill>
              <a:srgbClr val="C7D2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66760" y="4389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89.2%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366760" y="48920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concordant pairs (Somer's D 0.788)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Lift: Gain Chart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183880" y="1234440"/>
            <a:ext cx="3474720" cy="44805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36676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366760" y="18288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customers by predicted risk and targeting just the top decile captures about 60% of all defaulters - versus only 10% under random selection.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66760" y="30632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third or fourth decile, the model has already surfaced roughly 90% of defaulters - a clear operational win for prioritizing review and collections effort.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366760" y="4526280"/>
            <a:ext cx="3063240" cy="0"/>
          </a:xfrm>
          <a:prstGeom prst="line">
            <a:avLst/>
          </a:prstGeom>
          <a:noFill/>
          <a:ln w="12700">
            <a:solidFill>
              <a:srgbClr val="C7D2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66760" y="46634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wider the gap between the two lines, the stronger the model.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45,076 held-out validation records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017520" cy="4023360"/>
          </a:xfrm>
          <a:prstGeom prst="roundRect">
            <a:avLst>
              <a:gd name="adj" fmla="val 3030"/>
            </a:avLst>
          </a:prstGeom>
          <a:solidFill>
            <a:srgbClr val="1B2A5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events correctly predicted on unseen data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160520"/>
            <a:ext cx="2286000" cy="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 rate: 5.40%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Log-likelihood: -7,069.3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463040"/>
          <a:ext cx="726948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737360"/>
                <a:gridCol w="1691640"/>
                <a:gridCol w="16916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41,850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343400" y="4160520"/>
            <a:ext cx="7269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errors: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(0.71%) wrongly flag good customers as defaulters. False negatives (4.69%) are the bigger concern - customers who default but weren't flagged. This trade-off should guide where the risk threshold is set.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B2A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1B2A56"/>
          </a:solidFill>
          <a:ln w="12700">
            <a:solidFill>
              <a:srgbClr val="3A4A7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361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898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strong, significant model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76479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 variables are significant (p &lt; 0.05); Likelihood Ratio, Score and Wald tests confirm the model meaningfully explains default.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1B2A56"/>
          </a:solidFill>
          <a:ln w="12700">
            <a:solidFill>
              <a:srgbClr val="3A4A7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7919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5328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discrimination &amp; lift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290779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89.2% concordance and a gain-chart lift that captures ~90% of defaulters within the top 3-4 deciles.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1B2A56"/>
          </a:solidFill>
          <a:ln w="12700">
            <a:solidFill>
              <a:srgbClr val="3A4A7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82219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6758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validation accuracy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405079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up on unseen data, with false negatives (4.69%) the primary error to manage operationally.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12064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1B2A56"/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" y="51206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Hosmer-Lemeshow miscalibration, investigate West-region approval practices, and prioritize collections using the risk-decile ranking above.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github.com/Vicky-Crasto/Credit-Scoring-Model-SAS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Scoring Model - Logistic Regression</dc:title>
  <dc:subject>PptxGenJS Presentation</dc:subject>
  <dc:creator>Dev Verma</dc:creator>
  <cp:lastModifiedBy>Dev Verma</cp:lastModifiedBy>
  <cp:revision>1</cp:revision>
  <dcterms:created xsi:type="dcterms:W3CDTF">2026-07-06T13:12:47Z</dcterms:created>
  <dcterms:modified xsi:type="dcterms:W3CDTF">2026-07-06T13:12:47Z</dcterms:modified>
</cp:coreProperties>
</file>